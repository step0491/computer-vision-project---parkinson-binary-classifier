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8288000" cy="10287000"/>
  <p:notesSz cx="6858000" cy="9144000"/>
  <p:embeddedFontLst>
    <p:embeddedFont>
      <p:font typeface="Open Sauce" panose="020B0604020202020204" charset="0"/>
      <p:regular r:id="rId10"/>
    </p:embeddedFont>
    <p:embeddedFont>
      <p:font typeface="Open Sauce Bold" panose="020B0604020202020204" charset="0"/>
      <p:regular r:id="rId11"/>
    </p:embeddedFont>
    <p:embeddedFont>
      <p:font typeface="Open Sauce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7016"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10" name="TextBox 10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70357" y="2458475"/>
            <a:ext cx="12747285" cy="230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56"/>
              </a:lnSpc>
              <a:spcBef>
                <a:spcPct val="0"/>
              </a:spcBef>
            </a:pPr>
            <a:r>
              <a:rPr lang="en-US" sz="13540" b="1" spc="-636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Parkinson's Classification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819935"/>
            <a:ext cx="4747340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Stefano Colella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11960" y="8819935"/>
            <a:ext cx="4747340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865075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H="1">
            <a:off x="9997172" y="2500334"/>
            <a:ext cx="9145756" cy="9162415"/>
          </a:xfrm>
          <a:custGeom>
            <a:avLst/>
            <a:gdLst/>
            <a:ahLst/>
            <a:cxnLst/>
            <a:rect l="l" t="t" r="r" b="b"/>
            <a:pathLst>
              <a:path w="9145756" h="9162415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3986175" y="-1714500"/>
            <a:ext cx="7672410" cy="7672410"/>
          </a:xfrm>
          <a:custGeom>
            <a:avLst/>
            <a:gdLst/>
            <a:ahLst/>
            <a:cxnLst/>
            <a:rect l="l" t="t" r="r" b="b"/>
            <a:pathLst>
              <a:path w="7672410" h="7672410">
                <a:moveTo>
                  <a:pt x="0" y="0"/>
                </a:moveTo>
                <a:lnTo>
                  <a:pt x="7672409" y="0"/>
                </a:lnTo>
                <a:lnTo>
                  <a:pt x="7672409" y="7672409"/>
                </a:lnTo>
                <a:lnTo>
                  <a:pt x="0" y="7672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3976" y="2584863"/>
            <a:ext cx="57410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4"/>
              </a:lnSpc>
            </a:pPr>
            <a:r>
              <a:rPr lang="en-US" sz="6641" spc="-312" dirty="0">
                <a:solidFill>
                  <a:srgbClr val="FFFFFF"/>
                </a:solidFill>
                <a:latin typeface="Open Sauce Bold" panose="020B0604020202020204" charset="0"/>
                <a:ea typeface="Open Sauce Light"/>
                <a:cs typeface="Open Sauce Light"/>
                <a:sym typeface="Open Sauce Light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22380" y="6283530"/>
            <a:ext cx="9612018" cy="311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 present a binary classification pipeline to distinguish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4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Parkinson's disease (PD) patients (1)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from healthy subjects (0)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4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using the PaHaW Handwriting Dataset.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4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Our goal is to extract reliable indicators of PD from time-series tablet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9444195" y="1262224"/>
            <a:ext cx="10205834" cy="8834321"/>
          </a:xfrm>
          <a:custGeom>
            <a:avLst/>
            <a:gdLst/>
            <a:ahLst/>
            <a:cxnLst/>
            <a:rect l="l" t="t" r="r" b="b"/>
            <a:pathLst>
              <a:path w="6979048" h="6991760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609600" y="2773639"/>
            <a:ext cx="2750861" cy="2750861"/>
          </a:xfrm>
          <a:custGeom>
            <a:avLst/>
            <a:gdLst/>
            <a:ahLst/>
            <a:cxnLst/>
            <a:rect l="l" t="t" r="r" b="b"/>
            <a:pathLst>
              <a:path w="2750861" h="2750861">
                <a:moveTo>
                  <a:pt x="0" y="2750862"/>
                </a:moveTo>
                <a:lnTo>
                  <a:pt x="2750862" y="2750862"/>
                </a:lnTo>
                <a:lnTo>
                  <a:pt x="2750862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5739774" y="650878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3828" y="2039904"/>
            <a:ext cx="6919691" cy="343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dataset contains time-series handwriting samples: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42900" indent="-342900" algn="just">
              <a:lnSpc>
                <a:spcPts val="26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X/Y coordinates</a:t>
            </a:r>
          </a:p>
          <a:p>
            <a:pPr marL="342900" indent="-342900" algn="just">
              <a:lnSpc>
                <a:spcPts val="26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pen pressure</a:t>
            </a:r>
          </a:p>
          <a:p>
            <a:pPr marL="342900" indent="-342900" algn="just">
              <a:lnSpc>
                <a:spcPts val="26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Altitude</a:t>
            </a:r>
          </a:p>
          <a:p>
            <a:pPr marL="342900" indent="-342900" algn="just">
              <a:lnSpc>
                <a:spcPts val="26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Azimuth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from 72 subjects (37 with Parkinson Diagnosis and 38 without).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48452" y="3237293"/>
            <a:ext cx="683042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500"/>
              </a:lnSpc>
            </a:pPr>
            <a:r>
              <a:rPr lang="en-US" sz="5000" b="1" spc="10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STATE OF THE ART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EC5FA80-47BC-54BB-845B-97327ED605A3}"/>
              </a:ext>
            </a:extLst>
          </p:cNvPr>
          <p:cNvSpPr txBox="1"/>
          <p:nvPr/>
        </p:nvSpPr>
        <p:spPr>
          <a:xfrm>
            <a:off x="5160705" y="8959173"/>
            <a:ext cx="5636341" cy="75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00" i="1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Subjects 00061, 00080, and 00089 were excluded due to incomplete data.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98EE42B-CA5E-7032-0A78-5F50C1AEA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075" y="5927803"/>
            <a:ext cx="10686907" cy="1917357"/>
          </a:xfrm>
          <a:prstGeom prst="roundRect">
            <a:avLst>
              <a:gd name="adj" fmla="val 810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D7AE106-C4FF-7828-3F15-EEFF1EC1C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7455" y="7938411"/>
            <a:ext cx="10707861" cy="7962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588003" y="-2350098"/>
            <a:ext cx="10458860" cy="18187596"/>
          </a:xfrm>
          <a:custGeom>
            <a:avLst/>
            <a:gdLst/>
            <a:ahLst/>
            <a:cxnLst/>
            <a:rect l="l" t="t" r="r" b="b"/>
            <a:pathLst>
              <a:path w="10458860" h="10477911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258752" y="1181100"/>
            <a:ext cx="2750861" cy="2750861"/>
          </a:xfrm>
          <a:custGeom>
            <a:avLst/>
            <a:gdLst/>
            <a:ahLst/>
            <a:cxnLst/>
            <a:rect l="l" t="t" r="r" b="b"/>
            <a:pathLst>
              <a:path w="2750861" h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04685" y="1751418"/>
            <a:ext cx="8153400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7704"/>
              </a:lnSpc>
            </a:pPr>
            <a:r>
              <a:rPr lang="en-US" sz="6641" spc="-312" dirty="0">
                <a:solidFill>
                  <a:srgbClr val="FFFFFF"/>
                </a:solidFill>
                <a:latin typeface="Open Sauce Bold" panose="020B0604020202020204" charset="0"/>
                <a:ea typeface="Open Sauce Light"/>
                <a:cs typeface="Open Sauce Light"/>
                <a:sym typeface="Open Sauce Light"/>
              </a:rPr>
              <a:t>Materials  &amp;  Dataset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77459" y="4914900"/>
            <a:ext cx="5030355" cy="447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latin typeface="Open Sauce"/>
                <a:ea typeface="Open Sauce"/>
                <a:cs typeface="Open Sauce"/>
                <a:sym typeface="Open Sauce"/>
              </a:rPr>
              <a:t>Raw time-series files (.svc) were processed to extract static and dynamic features.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calculated continuous velocity from spatial displacements and time deltas. We computed the mean, std, max, min, and median for all physical properties.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402481-C156-B5AF-56E2-3562038A5A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34" y="4333957"/>
            <a:ext cx="9645442" cy="5787265"/>
          </a:xfrm>
          <a:prstGeom prst="roundRect">
            <a:avLst>
              <a:gd name="adj" fmla="val 1284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-1449175" y="-220557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flipV="1">
            <a:off x="11497756" y="7411878"/>
            <a:ext cx="5653784" cy="5653784"/>
          </a:xfrm>
          <a:custGeom>
            <a:avLst/>
            <a:gdLst/>
            <a:ahLst/>
            <a:cxnLst/>
            <a:rect l="l" t="t" r="r" b="b"/>
            <a:pathLst>
              <a:path w="5653784" h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5596" y="5676900"/>
            <a:ext cx="8573656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7704"/>
              </a:lnSpc>
            </a:pPr>
            <a:r>
              <a:rPr lang="en-US" sz="6641" spc="-312" dirty="0">
                <a:solidFill>
                  <a:srgbClr val="FFFFFF"/>
                </a:solidFill>
                <a:latin typeface="Open Sauce Bold" panose="020B0604020202020204" charset="0"/>
                <a:ea typeface="Open Sauce Light"/>
                <a:cs typeface="Open Sauce Light"/>
                <a:sym typeface="Open Sauce Light"/>
              </a:rPr>
              <a:t>Model Training &amp; features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5600" y="2552700"/>
            <a:ext cx="6324600" cy="4987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deployed a Random Forest Classifier. To prevent overfitting on small data, hyperparameters were optimized:</a:t>
            </a:r>
          </a:p>
          <a:p>
            <a:pPr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n_estimators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=200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max_depth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=7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min_samples_split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=5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min_samples_leaf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=2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max_features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='sqrt’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3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class_weight</a:t>
            </a:r>
            <a:r>
              <a:rPr lang="en-US" sz="24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='balanced'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H="1" flipV="1">
            <a:off x="1204898" y="1559527"/>
            <a:ext cx="7962927" cy="7962927"/>
          </a:xfrm>
          <a:custGeom>
            <a:avLst/>
            <a:gdLst/>
            <a:ahLst/>
            <a:cxnLst/>
            <a:rect l="l" t="t" r="r" b="b"/>
            <a:pathLst>
              <a:path w="7962927" h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id="14" name="Freeform 14"/>
          <p:cNvSpPr/>
          <p:nvPr/>
        </p:nvSpPr>
        <p:spPr>
          <a:xfrm rot="-5400000" flipH="1">
            <a:off x="10529585" y="2267822"/>
            <a:ext cx="8692737" cy="8348097"/>
          </a:xfrm>
          <a:custGeom>
            <a:avLst/>
            <a:gdLst/>
            <a:ahLst/>
            <a:cxnLst/>
            <a:rect l="l" t="t" r="r" b="b"/>
            <a:pathLst>
              <a:path w="7629348" h="7643245">
                <a:moveTo>
                  <a:pt x="7629349" y="0"/>
                </a:moveTo>
                <a:lnTo>
                  <a:pt x="0" y="0"/>
                </a:lnTo>
                <a:lnTo>
                  <a:pt x="0" y="7643245"/>
                </a:lnTo>
                <a:lnTo>
                  <a:pt x="7629349" y="7643245"/>
                </a:lnTo>
                <a:lnTo>
                  <a:pt x="762934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534400" y="1416790"/>
            <a:ext cx="6839253" cy="1357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Future improvements could involve employing Convolutional Neural Networks on Spectrogram representations of the time series to capture more intricate temporal dependencies.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3976" y="7421421"/>
            <a:ext cx="6581078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500"/>
              </a:lnSpc>
            </a:pPr>
            <a:r>
              <a:rPr lang="en-US" sz="5000" b="1" spc="10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 METRICS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7263FFC-7CB6-21F5-CB91-2715CF00CC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4068960"/>
            <a:ext cx="7786966" cy="5840225"/>
          </a:xfrm>
          <a:prstGeom prst="roundRect">
            <a:avLst>
              <a:gd name="adj" fmla="val 1196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-1449175" y="-220557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flipV="1">
            <a:off x="12020093" y="5548144"/>
            <a:ext cx="7420312" cy="7420312"/>
          </a:xfrm>
          <a:custGeom>
            <a:avLst/>
            <a:gdLst/>
            <a:ahLst/>
            <a:cxnLst/>
            <a:rect l="l" t="t" r="r" b="b"/>
            <a:pathLst>
              <a:path w="7420312" h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3800" y="1252524"/>
            <a:ext cx="5741000" cy="7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5400" b="1" spc="10" dirty="0">
                <a:solidFill>
                  <a:srgbClr val="FFFFFF"/>
                </a:solidFill>
                <a:latin typeface="Open Sauce Bold"/>
                <a:sym typeface="Open Sauce Light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1057" y="1613641"/>
            <a:ext cx="6390122" cy="204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</a:t>
            </a:r>
            <a:r>
              <a:rPr lang="en-US" sz="2000" spc="3" dirty="0">
                <a:solidFill>
                  <a:srgbClr val="FFFFFF"/>
                </a:solidFill>
                <a:latin typeface="Open Sauce"/>
                <a:sym typeface="Open Sauce"/>
              </a:rPr>
              <a:t>model demonstrates a strong capability to identify PD patients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000" spc="3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Random Forest naturally resisted overfitting, establishing a highly competitive baseline.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1FE5BD24-89DE-C4BA-2DAE-40551565F197}"/>
              </a:ext>
            </a:extLst>
          </p:cNvPr>
          <p:cNvGrpSpPr/>
          <p:nvPr/>
        </p:nvGrpSpPr>
        <p:grpSpPr>
          <a:xfrm>
            <a:off x="-96953" y="3543300"/>
            <a:ext cx="9067642" cy="5379240"/>
            <a:chOff x="-1371442" y="4381500"/>
            <a:chExt cx="9067642" cy="5379240"/>
          </a:xfrm>
        </p:grpSpPr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9413157B-E227-93C8-9F1F-EF0EC1F0B524}"/>
                </a:ext>
              </a:extLst>
            </p:cNvPr>
            <p:cNvSpPr txBox="1"/>
            <p:nvPr/>
          </p:nvSpPr>
          <p:spPr>
            <a:xfrm>
              <a:off x="-1371442" y="4630681"/>
              <a:ext cx="8402599" cy="5130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b="0" i="0">
                  <a:solidFill>
                    <a:srgbClr val="ABB2BF"/>
                  </a:solidFill>
                  <a:effectLst/>
                  <a:latin typeface="Consolas" panose="020B0609020204030204" pitchFamily="49" charset="0"/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_________________________________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_________________________________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_____________________________________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>
                  <a:solidFill>
                    <a:srgbClr val="FFFFFF"/>
                  </a:solidFill>
                  <a:latin typeface="Open Sauce"/>
                </a:rPr>
                <a:t>_____________________________________</a:t>
              </a:r>
              <a:endParaRPr lang="en-US" sz="2800" b="1" spc="3" dirty="0">
                <a:solidFill>
                  <a:srgbClr val="FFFFFF"/>
                </a:solidFill>
                <a:latin typeface="Open Sauce"/>
              </a:endParaRP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__________________________________________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__________________________________________</a:t>
              </a:r>
              <a:endParaRPr lang="it-IT" sz="2800" b="1" spc="3" dirty="0">
                <a:solidFill>
                  <a:srgbClr val="FFFFFF"/>
                </a:solidFill>
                <a:latin typeface="Open Sauce"/>
              </a:endParaRP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AB5AE0C-F26C-AB94-4AC1-8D9A1F4F33FF}"/>
                </a:ext>
              </a:extLst>
            </p:cNvPr>
            <p:cNvSpPr txBox="1"/>
            <p:nvPr/>
          </p:nvSpPr>
          <p:spPr>
            <a:xfrm>
              <a:off x="1676400" y="4381500"/>
              <a:ext cx="6019800" cy="51300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b="0" i="0">
                  <a:solidFill>
                    <a:srgbClr val="ABB2BF"/>
                  </a:solidFill>
                  <a:effectLst/>
                  <a:latin typeface="Consolas" panose="020B0609020204030204" pitchFamily="49" charset="0"/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Precision:   0.625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Specificity: 0.625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F1-Score:    0.6667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Accuracy:    0.6667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Recall:      0.7143</a:t>
              </a:r>
            </a:p>
            <a:p>
              <a:pPr>
                <a:lnSpc>
                  <a:spcPct val="200000"/>
                </a:lnSpc>
              </a:pPr>
              <a:r>
                <a:rPr lang="en-US" sz="2800" b="1" spc="3" dirty="0">
                  <a:solidFill>
                    <a:srgbClr val="FFFFFF"/>
                  </a:solidFill>
                  <a:latin typeface="Open Sauce"/>
                </a:rPr>
                <a:t>AUC:         0.7143</a:t>
              </a:r>
            </a:p>
          </p:txBody>
        </p:sp>
      </p:grpSp>
      <p:pic>
        <p:nvPicPr>
          <p:cNvPr id="11" name="Immagine 10">
            <a:extLst>
              <a:ext uri="{FF2B5EF4-FFF2-40B4-BE49-F238E27FC236}">
                <a16:creationId xmlns:a16="http://schemas.microsoft.com/office/drawing/2014/main" id="{8CDE3277-C62A-2BF8-BFB6-B6774FE58C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342" y="4024678"/>
            <a:ext cx="8021911" cy="6016433"/>
          </a:xfrm>
          <a:prstGeom prst="roundRect">
            <a:avLst>
              <a:gd name="adj" fmla="val 1209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0734914" y="-869322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id="13" name="Freeform 13"/>
          <p:cNvSpPr/>
          <p:nvPr/>
        </p:nvSpPr>
        <p:spPr>
          <a:xfrm rot="-5400000" flipH="1" flipV="1">
            <a:off x="-857400" y="4947786"/>
            <a:ext cx="6611341" cy="6611341"/>
          </a:xfrm>
          <a:custGeom>
            <a:avLst/>
            <a:gdLst/>
            <a:ahLst/>
            <a:cxnLst/>
            <a:rect l="l" t="t" r="r" b="b"/>
            <a:pathLst>
              <a:path w="6611341" h="6611341">
                <a:moveTo>
                  <a:pt x="6611341" y="6611341"/>
                </a:moveTo>
                <a:lnTo>
                  <a:pt x="0" y="6611341"/>
                </a:lnTo>
                <a:lnTo>
                  <a:pt x="0" y="0"/>
                </a:lnTo>
                <a:lnTo>
                  <a:pt x="6611341" y="0"/>
                </a:lnTo>
                <a:lnTo>
                  <a:pt x="6611341" y="661134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703976" y="6727168"/>
            <a:ext cx="5825699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4"/>
              </a:lnSpc>
            </a:pPr>
            <a:r>
              <a:rPr lang="en-US" sz="6641" spc="-312" dirty="0">
                <a:solidFill>
                  <a:srgbClr val="FFFFFF"/>
                </a:solidFill>
                <a:latin typeface="Open Sauce Bold" panose="020B0604020202020204" charset="0"/>
                <a:ea typeface="Open Sauce Light"/>
                <a:cs typeface="Open Sauce Light"/>
                <a:sym typeface="Open Sauce Light"/>
              </a:rPr>
              <a:t>Future 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0400" y="1816262"/>
            <a:ext cx="7162800" cy="1357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2000" spc="3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Future improvements could involve employing Convolutional Neural Networks on Spectrogram representations of the time series to capture more intricate temporal dependencies.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ED7906-EC21-B6C6-3FAA-BF01118B6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65" y="4533900"/>
            <a:ext cx="8774102" cy="4779305"/>
          </a:xfrm>
          <a:prstGeom prst="roundRect">
            <a:avLst>
              <a:gd name="adj" fmla="val 596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313</Words>
  <Application>Microsoft Office PowerPoint</Application>
  <PresentationFormat>Personalizzato</PresentationFormat>
  <Paragraphs>70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Open Sauce Medium</vt:lpstr>
      <vt:lpstr>Open Sauce</vt:lpstr>
      <vt:lpstr>Open Sauce Bold</vt:lpstr>
      <vt:lpstr>Calibri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STEFANO</cp:lastModifiedBy>
  <cp:revision>8</cp:revision>
  <dcterms:created xsi:type="dcterms:W3CDTF">2006-08-16T00:00:00Z</dcterms:created>
  <dcterms:modified xsi:type="dcterms:W3CDTF">2026-06-14T15:27:33Z</dcterms:modified>
  <dc:identifier>DAHMcaadgOg</dc:identifier>
</cp:coreProperties>
</file>